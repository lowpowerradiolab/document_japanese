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7099300" cy="10234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0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8175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Meshtastic logo image: https://seeklogo.com/images/M/meshtastic-logo-396D2B3B6F-seeklogo.com.png
- Topology image: https://meshtastic.org/assets/images/lora-topology-2-c80684f1eafdf2a71fbaf26e494fb26d.webp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Meshtastic overview: https://meshtastic.org/docs/overview/
- Region must be set to communicate: https://meshtastic.org/docs/getting-started/initial-config/
- Topology image: https://meshtastic.org/assets/images/lora-topology-2-c80684f1eafdf2a71fbaf26e494fb26d.webp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Channel configuration (PSK concept for private channels): https://meshtastic.org/docs/configuration/radio/channels/
- Mesh overview: https://meshtastic.org/docs/overview/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Channel configuration (PSK): https://meshtastic.org/docs/configuration/radio/channels/
- Secondary channels share LoRa modem config: https://meshtastic.org/docs/configuration/tips/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Device image (LILYGO product): https://lilygo.cc/products/t-beam-supreme-meshtastic
- Price example (Sengoku Densho listing): https://www.sengoku.co.jp/mod/sgk_cart/detail.php?code=EEHD-6KPA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Region must be set to communicate: https://meshtastic.org/docs/getting-started/initial-config/
- JP frequency range &amp; power limit table: https://meshtastic.org/docs/configuration/radio/lora/
- WiFi disables Bluetooth (ESP32): https://meshtastic.org/docs/configuration/radio/network/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Radio Law Art.38-7 (display requirement): https://lawzilla.jp/law/325AC0000000131?mode=only&amp;n=ln38_7
- TELEC explainer referencing Art.38-7 and label removal after modification: https://www.telec.or.jp/services/tech/others.html
- Wireless Equipment Regulations (Article 49-14; antenna absolute gain limits etc.): https://laws.e-gov.go.jp/law/325M50080000018
- Definition of EIRP (equivalent isotropically radiated power): https://laws.e-gov.go.jp/law/325M50080000014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(No external sources; this slide is a proposed plan.)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Channel configuration + PSK: https://meshtastic.org/docs/configuration/radio/channels/
- Region must be set to communicate: https://meshtastic.org/docs/getting-started/initial-config/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eshtastic_deck/assets/meshtasti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29144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64792" y="697724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Meshtasticやってみようかな？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1810512" y="1603378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9C4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ライセンスフリー無線好きのための “LoRaメッシュ” 公園実験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810512" y="2095961"/>
            <a:ext cx="2834640" cy="402336"/>
          </a:xfrm>
          <a:prstGeom prst="rect">
            <a:avLst/>
          </a:prstGeom>
          <a:solidFill>
            <a:srgbClr val="3CDD86"/>
          </a:solidFill>
          <a:ln>
            <a:solidFill>
              <a:srgbClr val="3CDD8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まず2台で疎通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736592" y="2101924"/>
            <a:ext cx="3566160" cy="402336"/>
          </a:xfrm>
          <a:prstGeom prst="rect">
            <a:avLst/>
          </a:prstGeom>
          <a:solidFill>
            <a:srgbClr val="2EB7FF"/>
          </a:solidFill>
          <a:ln>
            <a:solidFill>
              <a:srgbClr val="2EB7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仲間が増えるほど道ができる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810512" y="265633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4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・表示あり／電池運用しやすい端末　・UIは使い慣れたスマホ</a:t>
            </a:r>
            <a:endParaRPr lang="en-US" sz="1300" dirty="0"/>
          </a:p>
        </p:txBody>
      </p:sp>
      <p:pic>
        <p:nvPicPr>
          <p:cNvPr id="8" name="Image 1" descr="/mnt/data/meshtastic_deck/assets/lora_topology.png"/>
          <p:cNvPicPr>
            <a:picLocks noChangeAspect="1"/>
          </p:cNvPicPr>
          <p:nvPr/>
        </p:nvPicPr>
        <p:blipFill>
          <a:blip r:embed="rId4"/>
          <a:srcRect t="25313" b="25313"/>
          <a:stretch/>
        </p:blipFill>
        <p:spPr>
          <a:xfrm>
            <a:off x="655983" y="2997937"/>
            <a:ext cx="10972800" cy="2560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6536" y="2929357"/>
            <a:ext cx="11776656" cy="2719856"/>
          </a:xfrm>
          <a:prstGeom prst="rect">
            <a:avLst/>
          </a:prstGeom>
          <a:solidFill>
            <a:srgbClr val="0B1320">
              <a:alpha val="75000"/>
            </a:srgbClr>
          </a:solidFill>
          <a:ln w="12700">
            <a:solidFill>
              <a:srgbClr val="0B13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F654B6A-E93D-B778-FC8A-11C758EA3F4B}"/>
              </a:ext>
            </a:extLst>
          </p:cNvPr>
          <p:cNvSpPr txBox="1"/>
          <p:nvPr/>
        </p:nvSpPr>
        <p:spPr>
          <a:xfrm>
            <a:off x="1704759" y="328392"/>
            <a:ext cx="3871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第５のライセンスフリー無線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14E772F4-C47D-159E-220C-2760FAA1EE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2253" y="5659896"/>
            <a:ext cx="1005078" cy="1005078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172C05A-BCE9-4F22-34AA-29817CB80DF3}"/>
              </a:ext>
            </a:extLst>
          </p:cNvPr>
          <p:cNvSpPr txBox="1"/>
          <p:nvPr/>
        </p:nvSpPr>
        <p:spPr>
          <a:xfrm>
            <a:off x="2474843" y="5760166"/>
            <a:ext cx="7861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 i="1" dirty="0">
                <a:solidFill>
                  <a:schemeClr val="bg1"/>
                </a:solidFill>
                <a:latin typeface="Bookman Old Style" panose="02050604050505020204" pitchFamily="18" charset="0"/>
              </a:rPr>
              <a:t>Low-Power Radio Research &amp; Applications Laboratory</a:t>
            </a:r>
            <a:endParaRPr lang="ja-JP" altLang="en-US" sz="2000" b="1" i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A2BA6CC-E2EA-C8C1-7042-D8E5A29A0461}"/>
              </a:ext>
            </a:extLst>
          </p:cNvPr>
          <p:cNvSpPr txBox="1"/>
          <p:nvPr/>
        </p:nvSpPr>
        <p:spPr>
          <a:xfrm>
            <a:off x="2554357" y="6170959"/>
            <a:ext cx="73008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https://www.lowpowerradiolab.org/</a:t>
            </a:r>
            <a:endParaRPr lang="ja-JP" altLang="en-US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1B2D"/>
          </a:solidFill>
          <a:ln w="12700">
            <a:solidFill>
              <a:srgbClr val="10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Meshtasticって何？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5669280" cy="5532120"/>
          </a:xfrm>
          <a:prstGeom prst="rect">
            <a:avLst/>
          </a:prstGeom>
          <a:solidFill>
            <a:srgbClr val="111E34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0972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携帯圏外でも “テキスト通信” を作れる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オフグリッドのメッシュ通信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5166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LoRa無線で短いメッセージをやり取り</a:t>
            </a:r>
            <a:endParaRPr lang="en-US" sz="16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端末どうしが中継（メッシュ）して届く</a:t>
            </a:r>
            <a:endParaRPr lang="en-US" sz="16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スマホは “使い慣れたUI” として操作（Bluetooth/USBなど）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68680" y="4572000"/>
            <a:ext cx="5166360" cy="457200"/>
          </a:xfrm>
          <a:prstGeom prst="rect">
            <a:avLst/>
          </a:prstGeom>
          <a:solidFill>
            <a:srgbClr val="3CDD86"/>
          </a:solidFill>
          <a:ln>
            <a:solidFill>
              <a:srgbClr val="3CDD8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参加者が増えるほど “道（経路）” が育つ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512064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C4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※通信開始には地域設定（JP等）が必須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46520" y="868680"/>
            <a:ext cx="5193792" cy="5532120"/>
          </a:xfrm>
          <a:prstGeom prst="rect">
            <a:avLst/>
          </a:prstGeom>
          <a:solidFill>
            <a:srgbClr val="111E34"/>
          </a:solidFill>
          <a:ln w="12700">
            <a:solidFill>
              <a:srgbClr val="22314F"/>
            </a:solidFill>
            <a:prstDash val="solid"/>
          </a:ln>
        </p:spPr>
      </p:sp>
      <p:pic>
        <p:nvPicPr>
          <p:cNvPr id="10" name="Image 0" descr="/mnt/data/meshtastic_deck/assets/lora_topo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450708"/>
            <a:ext cx="5010912" cy="23680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1B2D"/>
          </a:solidFill>
          <a:ln w="12700">
            <a:solidFill>
              <a:srgbClr val="10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なにができるの？（強調したい2点）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5669280" cy="5532120"/>
          </a:xfrm>
          <a:prstGeom prst="rect">
            <a:avLst/>
          </a:prstGeom>
          <a:solidFill>
            <a:srgbClr val="111E34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46520" y="868680"/>
            <a:ext cx="5193792" cy="5532120"/>
          </a:xfrm>
          <a:prstGeom prst="rect">
            <a:avLst/>
          </a:prstGeom>
          <a:solidFill>
            <a:srgbClr val="111E34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051560"/>
            <a:ext cx="2011680" cy="347472"/>
          </a:xfrm>
          <a:prstGeom prst="rect">
            <a:avLst/>
          </a:prstGeom>
          <a:solidFill>
            <a:srgbClr val="3CDD86"/>
          </a:solidFill>
          <a:ln>
            <a:solidFill>
              <a:srgbClr val="3CDD8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5257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端末間チャット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5257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チャンネル＝グループ会話（部屋）</a:t>
            </a:r>
            <a:endParaRPr lang="en-US" sz="16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DM＝個別メッセージ（1対1）</a:t>
            </a:r>
            <a:endParaRPr lang="en-US" sz="16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ログが残る／後で見返せる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68680" y="411480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C4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スマホUIで操作（Bluetooth/USBなど）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766560" y="1051560"/>
            <a:ext cx="2560320" cy="347472"/>
          </a:xfrm>
          <a:prstGeom prst="rect">
            <a:avLst/>
          </a:prstGeom>
          <a:solidFill>
            <a:srgbClr val="2EB7FF"/>
          </a:solidFill>
          <a:ln>
            <a:solidFill>
              <a:srgbClr val="2EB7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中継（メッシュ）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66560" y="15087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多段中継（メッシュ）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766560" y="2057400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参加者（ノード）が増えるほど中継点が増える</a:t>
            </a:r>
            <a:endParaRPr lang="en-US" sz="16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見通しの良い場所に1台置くと体感が出やすい</a:t>
            </a:r>
            <a:endParaRPr lang="en-US" sz="16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公園で “通信の道” を育てる実験ができる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766560" y="4617720"/>
            <a:ext cx="4663440" cy="548640"/>
          </a:xfrm>
          <a:prstGeom prst="rect">
            <a:avLst/>
          </a:prstGeom>
          <a:solidFill>
            <a:srgbClr val="3CDD86"/>
          </a:solidFill>
          <a:ln>
            <a:solidFill>
              <a:srgbClr val="3CDD8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キーワード：参加者が増えるほど “道ができる”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1B2D"/>
          </a:solidFill>
          <a:ln w="12700">
            <a:solidFill>
              <a:srgbClr val="10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公開でつながる／実験は鍵付きで綺麗に分ける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2743200" cy="438912"/>
          </a:xfrm>
          <a:prstGeom prst="rect">
            <a:avLst/>
          </a:prstGeom>
          <a:solidFill>
            <a:srgbClr val="3CDD86"/>
          </a:solidFill>
          <a:ln>
            <a:solidFill>
              <a:srgbClr val="3CDD8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公開（Primary）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2743200" cy="438912"/>
          </a:xfrm>
          <a:prstGeom prst="rect">
            <a:avLst/>
          </a:prstGeom>
          <a:solidFill>
            <a:srgbClr val="2EB7FF"/>
          </a:solidFill>
          <a:ln>
            <a:solidFill>
              <a:srgbClr val="2EB7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実験（鍵付き：PSK）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429000" y="868680"/>
            <a:ext cx="2743200" cy="2011680"/>
          </a:xfrm>
          <a:prstGeom prst="rect">
            <a:avLst/>
          </a:prstGeom>
          <a:solidFill>
            <a:srgbClr val="111E34"/>
          </a:solidFill>
          <a:ln w="25400">
            <a:solidFill>
              <a:srgbClr val="3CDD86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初参加の入口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 “つながる”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55080" y="868680"/>
            <a:ext cx="2743200" cy="2011680"/>
          </a:xfrm>
          <a:prstGeom prst="rect">
            <a:avLst/>
          </a:prstGeom>
          <a:solidFill>
            <a:srgbClr val="111E34"/>
          </a:solidFill>
          <a:ln w="25400">
            <a:solidFill>
              <a:srgbClr val="3CDD86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設定は最小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誰でも参加しやすい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81160" y="868680"/>
            <a:ext cx="2743200" cy="2011680"/>
          </a:xfrm>
          <a:prstGeom prst="rect">
            <a:avLst/>
          </a:prstGeom>
          <a:solidFill>
            <a:srgbClr val="111E34"/>
          </a:solidFill>
          <a:ln w="25400">
            <a:solidFill>
              <a:srgbClr val="3CDD86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基本は変更しない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混線してもOK（練習）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3520440"/>
            <a:ext cx="2743200" cy="2011680"/>
          </a:xfrm>
          <a:prstGeom prst="rect">
            <a:avLst/>
          </a:prstGeom>
          <a:solidFill>
            <a:srgbClr val="111E34"/>
          </a:solidFill>
          <a:ln w="25400">
            <a:solidFill>
              <a:srgbClr val="2EB7FF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実験をきれいに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ログが読みやすい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55080" y="3520440"/>
            <a:ext cx="2743200" cy="2011680"/>
          </a:xfrm>
          <a:prstGeom prst="rect">
            <a:avLst/>
          </a:prstGeom>
          <a:solidFill>
            <a:srgbClr val="111E34"/>
          </a:solidFill>
          <a:ln w="25400">
            <a:solidFill>
              <a:srgbClr val="2EB7FF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同じ鍵（PSK）だけ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仲間内だけ読める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281160" y="3520440"/>
            <a:ext cx="2743200" cy="2011680"/>
          </a:xfrm>
          <a:prstGeom prst="rect">
            <a:avLst/>
          </a:prstGeom>
          <a:solidFill>
            <a:srgbClr val="111E34"/>
          </a:solidFill>
          <a:ln w="25400">
            <a:solidFill>
              <a:srgbClr val="2EB7FF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実験はここで完結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条件（設定）を揃える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C4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初参加 → まず公開へ　｜　慣れたら → 実験チャンネル参加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4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ポイント：無線設定（JP／Preset等）は全員で統一、会話はチャンネルで分離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1B2D"/>
          </a:solidFill>
          <a:ln w="12700">
            <a:solidFill>
              <a:srgbClr val="10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なにが必要？（各自購入／表示あり・電池運用しやすい）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5394960" cy="5532120"/>
          </a:xfrm>
          <a:prstGeom prst="rect">
            <a:avLst/>
          </a:prstGeom>
          <a:solidFill>
            <a:srgbClr val="111E34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05156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C4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例：表示＋電池運用しやすい端末（T-Beam系）</a:t>
            </a:r>
            <a:endParaRPr lang="en-US" sz="1250" dirty="0"/>
          </a:p>
        </p:txBody>
      </p:sp>
      <p:pic>
        <p:nvPicPr>
          <p:cNvPr id="6" name="Image 0" descr="/mnt/data/meshtastic_deck/assets/lilygo_tb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417320"/>
            <a:ext cx="443484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598932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C4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価格例：T-Beam Meshtastic（千石電商） 単価 ¥5,680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868680"/>
            <a:ext cx="5486400" cy="5532120"/>
          </a:xfrm>
          <a:prstGeom prst="rect">
            <a:avLst/>
          </a:prstGeom>
          <a:solidFill>
            <a:srgbClr val="111E34"/>
          </a:solidFill>
          <a:ln w="12700">
            <a:solidFill>
              <a:srgbClr val="2231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7960" y="1051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最小セット（公園実験）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37960" y="169164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Meshtastic対応ノード ×1（表示あり推奨）</a:t>
            </a:r>
            <a:endParaRPr lang="en-US" sz="15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電源：18650 / LiPo / モバイルバッテリー等</a:t>
            </a:r>
            <a:endParaRPr lang="en-US" sz="15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スマホ（使い慣れたUI）</a:t>
            </a:r>
            <a:endParaRPr lang="en-US" sz="15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アンテナ（920MHz帯に合うもの推奨）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537960" y="4069080"/>
            <a:ext cx="4846320" cy="457200"/>
          </a:xfrm>
          <a:prstGeom prst="rect">
            <a:avLst/>
          </a:prstGeom>
          <a:solidFill>
            <a:srgbClr val="3CDD86"/>
          </a:solidFill>
          <a:ln>
            <a:solidFill>
              <a:srgbClr val="3CDD8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 “2台で疎通” できればOK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537960" y="4572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C4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（仲間が増えても迷子になりにくい）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1B2D"/>
          </a:solidFill>
          <a:ln w="12700">
            <a:solidFill>
              <a:srgbClr val="10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初期セットアップ（最短ルート）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0"/>
            <a:ext cx="10469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ファーム書込み → ② スマホ接続 → ③ Region=JP → ④ 公開＋実験チャンネル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ファームを書き込む（Web Flasher等）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スマホアプリで端末に接続（主にBluetooth）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RegionをJPに設定（通信開始に必須）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公開Primaryは触らない／実験は鍵付きSecondaryで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“つながらない”の9割はここ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0" y="214884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Region未設定／違う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LoRa設定（Preset等）が揃っていない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Wi‑FiをONにしてBluetoothが切れている（ESP32）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4754880"/>
            <a:ext cx="10771632" cy="548640"/>
          </a:xfrm>
          <a:prstGeom prst="rect">
            <a:avLst/>
          </a:prstGeom>
          <a:solidFill>
            <a:srgbClr val="2EB7FF"/>
          </a:solidFill>
          <a:ln>
            <a:solidFill>
              <a:srgbClr val="2EB7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公園実験は “近距離で疎通 → 距離を伸ばす → 高所に1台” が鉄板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4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TIP：Wi‑Fiを使うとBluetoothが無効になることがあります（ESP32）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1B2D"/>
          </a:solidFill>
          <a:ln w="12700">
            <a:solidFill>
              <a:srgbClr val="10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法的チェックリスト（ライト／脚注に根拠）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0"/>
            <a:ext cx="10469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“ライセンスフリーで遊ぶ”ための3チェック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solidFill>
            <a:srgbClr val="3CDD86"/>
          </a:solidFill>
          <a:ln>
            <a:solidFill>
              <a:srgbClr val="3CDD8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2011680"/>
            <a:ext cx="10058400" cy="1005840"/>
          </a:xfrm>
          <a:prstGeom prst="rect">
            <a:avLst/>
          </a:prstGeom>
          <a:solidFill>
            <a:srgbClr val="0F1A2D"/>
          </a:solidFill>
          <a:ln>
            <a:solidFill>
              <a:srgbClr val="22314F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技適（表示）のある機器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国内で使う前提として、まずここ。改造しない。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337560"/>
            <a:ext cx="502920" cy="502920"/>
          </a:xfrm>
          <a:prstGeom prst="rect">
            <a:avLst/>
          </a:prstGeom>
          <a:solidFill>
            <a:srgbClr val="2EB7FF"/>
          </a:solidFill>
          <a:ln>
            <a:solidFill>
              <a:srgbClr val="2EB7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3291840"/>
            <a:ext cx="10058400" cy="1005840"/>
          </a:xfrm>
          <a:prstGeom prst="rect">
            <a:avLst/>
          </a:prstGeom>
          <a:solidFill>
            <a:srgbClr val="0F1A2D"/>
          </a:solidFill>
          <a:ln>
            <a:solidFill>
              <a:srgbClr val="22314F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Region=JP で統一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周波数帯／上限制御の前提。参加者全員で揃える。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617720"/>
            <a:ext cx="502920" cy="502920"/>
          </a:xfrm>
          <a:prstGeom prst="rect">
            <a:avLst/>
          </a:prstGeom>
          <a:solidFill>
            <a:srgbClr val="FFB020"/>
          </a:solidFill>
          <a:ln>
            <a:solidFill>
              <a:srgbClr val="FFB02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4572000"/>
            <a:ext cx="10058400" cy="1005840"/>
          </a:xfrm>
          <a:prstGeom prst="rect">
            <a:avLst/>
          </a:prstGeom>
          <a:solidFill>
            <a:srgbClr val="0F1A2D"/>
          </a:solidFill>
          <a:ln>
            <a:solidFill>
              <a:srgbClr val="22314F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アンテナ条件（利得上限など）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“盛りアンテナ”は要注意。まずは0〜2dBi級で安全側。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60350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4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※法律相談ではありません。運用は各自の責任で “安全側” を推奨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1B2D"/>
          </a:solidFill>
          <a:ln w="12700">
            <a:solidFill>
              <a:srgbClr val="10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公園実験（まず2台 → 仲間を募って “道を育てる” 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3456432" cy="411480"/>
          </a:xfrm>
          <a:prstGeom prst="rect">
            <a:avLst/>
          </a:prstGeom>
          <a:solidFill>
            <a:srgbClr val="3CDD86"/>
          </a:solidFill>
          <a:ln>
            <a:solidFill>
              <a:srgbClr val="3CDD8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1：2台で疎通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3456432" cy="4069080"/>
          </a:xfrm>
          <a:prstGeom prst="rect">
            <a:avLst/>
          </a:prstGeom>
          <a:solidFill>
            <a:srgbClr val="0F1A2D"/>
          </a:solidFill>
          <a:ln w="12700">
            <a:solidFill>
              <a:srgbClr val="22314F"/>
            </a:solidFill>
          </a:ln>
        </p:spPr>
        <p:txBody>
          <a:bodyPr wrap="square" lIns="177800" tIns="177800" rIns="177800" bIns="17780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同じベンチで送受信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距離を少しずつ伸ばす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ログ（場所・設定）を残す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736592" y="1325880"/>
            <a:ext cx="3456432" cy="411480"/>
          </a:xfrm>
          <a:prstGeom prst="rect">
            <a:avLst/>
          </a:prstGeom>
          <a:solidFill>
            <a:srgbClr val="2EB7FF"/>
          </a:solidFill>
          <a:ln>
            <a:solidFill>
              <a:srgbClr val="2EB7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2：固定1台で中継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36592" y="1783080"/>
            <a:ext cx="3456432" cy="4069080"/>
          </a:xfrm>
          <a:prstGeom prst="rect">
            <a:avLst/>
          </a:prstGeom>
          <a:solidFill>
            <a:srgbClr val="0F1A2D"/>
          </a:solidFill>
          <a:ln w="12700">
            <a:solidFill>
              <a:srgbClr val="22314F"/>
            </a:solidFill>
          </a:ln>
        </p:spPr>
        <p:txBody>
          <a:bodyPr wrap="square" lIns="177800" tIns="177800" rIns="177800" bIns="17780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見通しの良い場所に設置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歩き回って“効き”を確認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電池/給電の安定化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04504" y="1325880"/>
            <a:ext cx="3456432" cy="411480"/>
          </a:xfrm>
          <a:prstGeom prst="rect">
            <a:avLst/>
          </a:prstGeom>
          <a:solidFill>
            <a:srgbClr val="FFB020"/>
          </a:solidFill>
          <a:ln>
            <a:solidFill>
              <a:srgbClr val="FFB02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3：参加者を増やす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04504" y="1783080"/>
            <a:ext cx="3456432" cy="4069080"/>
          </a:xfrm>
          <a:prstGeom prst="rect">
            <a:avLst/>
          </a:prstGeom>
          <a:solidFill>
            <a:srgbClr val="0F1A2D"/>
          </a:solidFill>
          <a:ln w="12700">
            <a:solidFill>
              <a:srgbClr val="22314F"/>
            </a:solidFill>
          </a:ln>
        </p:spPr>
        <p:txBody>
          <a:bodyPr wrap="square" lIns="177800" tIns="177800" rIns="177800" bIns="177800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公開＋実験（PSK）で混乱回避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役割：固定／移動／ログ係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“人数＝中継点”を体感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5989320"/>
            <a:ext cx="10771632" cy="548640"/>
          </a:xfrm>
          <a:prstGeom prst="rect">
            <a:avLst/>
          </a:prstGeom>
          <a:solidFill>
            <a:srgbClr val="3CDD86"/>
          </a:solidFill>
          <a:ln>
            <a:solidFill>
              <a:srgbClr val="3CDD86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ゴール例：固定ノード1台＋参加者数台で、公園内の“届き方”を見える化（ログ共有）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1B2D"/>
          </a:solidFill>
          <a:ln w="12700">
            <a:solidFill>
              <a:srgbClr val="101B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次の一歩（募集）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097280"/>
            <a:ext cx="10469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参加のしかた（各自購入）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65836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端末：表示あり／電池運用しやすいMeshtasticノード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スマホ：Meshtasticアプリ（操作・ログ）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チャンネル：公開Primary＋実験Secondary（PSK）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法的：技適／JP設定／アンテナ条件（安全側）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18120" y="1874520"/>
            <a:ext cx="3822192" cy="2514600"/>
          </a:xfrm>
          <a:prstGeom prst="rect">
            <a:avLst/>
          </a:prstGeom>
          <a:solidFill>
            <a:srgbClr val="0F1A2D"/>
          </a:solidFill>
          <a:ln>
            <a:solidFill>
              <a:srgbClr val="22314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9C4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QR（募集フォーム）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B9C4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※ここに貼る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4800600"/>
            <a:ext cx="10771632" cy="566928"/>
          </a:xfrm>
          <a:prstGeom prst="rect">
            <a:avLst/>
          </a:prstGeom>
          <a:solidFill>
            <a:srgbClr val="2EB7FF"/>
          </a:solidFill>
          <a:ln>
            <a:solidFill>
              <a:srgbClr val="2EB7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2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“まず2台で疎通”を一緒に。次に人数を増やして公園で“道”を育てます。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4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連絡手段・日時・場所はここに追記（例：〇月〇日 〇〇公園）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1105</Words>
  <Application>Microsoft Office PowerPoint</Application>
  <PresentationFormat>ワイド画面</PresentationFormat>
  <Paragraphs>128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Yu Gothic</vt:lpstr>
      <vt:lpstr>Arial</vt:lpstr>
      <vt:lpstr>Bookman Old Style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Yasuo KAGAYA</cp:lastModifiedBy>
  <cp:revision>2</cp:revision>
  <cp:lastPrinted>2026-02-03T08:53:03Z</cp:lastPrinted>
  <dcterms:created xsi:type="dcterms:W3CDTF">2026-02-03T08:27:13Z</dcterms:created>
  <dcterms:modified xsi:type="dcterms:W3CDTF">2026-02-03T09:08:45Z</dcterms:modified>
</cp:coreProperties>
</file>